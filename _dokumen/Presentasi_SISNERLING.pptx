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6" d="100"/>
          <a:sy n="76" d="100"/>
        </p:scale>
        <p:origin x="27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32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Selamat pagi/siang bapak/ibu sekalian. Pada kesempatan ini saya ingin memaparkan karya sistem informasi: Rancang Bangun Sistem Informasi Pengolahan Data dan Kalkulasi Dinamis Neraca Lingkungan (SISNERLING) Berbasis Web pada instansi Badan Pusat Statistik. Sistem ini dirancang khusus untuk memenuhi kebutuhan BPS dalam menyusun neraca sumber daya alam dan lingkungan secara modern, akurat, dan terintegrasi—menggantikan metode spreadsheet manual yang rentan kendala teknis.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Mengapa sistem ini dibutuhkan di BPS? Dalam penyusunan neraca lingkungan, tim statistik menghadapi tiga masalah utama:</a:t>
            </a:r>
          </a:p>
          <a:p>
            <a:r>
              <a:t>1. Data survei dan neraca tercecer di komputer staf masing-masing tanpa satu basis data terpusat.</a:t>
            </a:r>
          </a:p>
          <a:p>
            <a:r>
              <a:t>2. Rekapitulasi tahunan memakan waktu sangat panjang karena harus mencocokkan puluhan file Excel yang saling tertaut.</a:t>
            </a:r>
          </a:p>
          <a:p>
            <a:r>
              <a:t>3. Kerentanan rumus formula Excel yang sering error saat file berpindah folder, sehingga berpotensi menimbulkan inkonsistensi data publikasi.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SISNERLING hadir sebagai jawaban atas permasalahan tersebut. Sistem ini membawa seluruh proses penyusunan neraca lingkungan ke web. Tujuannya adalah menciptakan satu sumber kebenaran data (Single Source of Truth) di BPS, memastikan metodologi SEEA berjalan otomatis, dan membebaskan statistisi dari pekerjaan manual yang repetitif.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SISNERLING dilengkapi dengan fitur unggulan yang dirancang spesifik untuk operasional statistik:</a:t>
            </a:r>
          </a:p>
          <a:p>
            <a:r>
              <a:t>1. Manajemen Role berjenjang (User, Admin Penugasan, Super Admin).</a:t>
            </a:r>
          </a:p>
          <a:p>
            <a:r>
              <a:t>2. Form Input Pengolahan Neraca dengan kalkulasi otomatis antar-sheet deret waktu.</a:t>
            </a:r>
          </a:p>
          <a:p>
            <a:r>
              <a:t>3. Statistical Spreadsheet lengkap dengan kemampuan import Excel langsung.</a:t>
            </a:r>
          </a:p>
          <a:p>
            <a:r>
              <a:t>4. Dashboard Analytics dan Export Laporan terstandar siap pakai.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Alur kerja pengolahan di SISNERLING sangat runtut dan terkontrol:</a:t>
            </a:r>
          </a:p>
          <a:p>
            <a:r>
              <a:t>Mulai dari login berbasis penugasan pengguna, pengisian data fisik dan ekonomi, eksekusi kalkulasi dinamis secara otomatis, proses penelaahan dan validasi oleh penanggung jawab, hingga data dikunci dan siap dipublikasikan ke publik dan pemangku kebijakan.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SISNERLING dibangun dengan standar arsitektur perangkat lunak modern:</a:t>
            </a:r>
          </a:p>
          <a:p>
            <a:r>
              <a:t>Frontend menggunakan React dan Vite untuk antarmuka yang sangat responsif saat memuat ribuan sel.</a:t>
            </a:r>
          </a:p>
          <a:p>
            <a:r>
              <a:t>Backend Node.js mengeksekusi logika kalkulasi neraca secara cepat.</a:t>
            </a:r>
          </a:p>
          <a:p>
            <a:r>
              <a:t>Dan basis data MySQL dengan skema long-format menjamin konsistensi dan skalabilitas penyimpanan data tahunan BPS.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Inovasi kunci pada sistem ini adalah Kalkulasi Dinamis berbasis DAG dan arsitektur Dual-Layer:</a:t>
            </a:r>
          </a:p>
          <a:p>
            <a:r>
              <a:t>Sistem memisahkan antara logika data di database dengan representasi visual di layar. Saat operator mengubah satu angka di tahun 2020, sistem secara dinamis mengalirkan perubahannya ke tahun-tahun berikutnya dan ke neraca moneter secara instan tanpa perlu menjalankan macro manual.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Implementasi riil dari rancang bangun ini telah diterapkan pada modul Neraca Hutan dan Neraca Kayu (Timber) BPS. Sistem berhasil mendigitalkan 1.992 variabel dari puluhan sheet Excel lama ke dalam sistem web: memisahkan persediaan fisik m³, sewa ekonomi, hingga neraca moneter nasional secara otomatis.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Manfaat yang dirasakan instansi BPS sangat nyata:</a:t>
            </a:r>
          </a:p>
          <a:p>
            <a:r>
              <a:t>1. Akurasi data terjamin sesuai standar SEEA.</a:t>
            </a:r>
          </a:p>
          <a:p>
            <a:r>
              <a:t>2. Efisiensi waktu pengolahan melonjak signifikan karena eliminasi proses manual.</a:t>
            </a:r>
          </a:p>
          <a:p>
            <a:r>
              <a:t>3. Memiliki audit trail lengkap untuk menjamin integritas statistik.</a:t>
            </a:r>
          </a:p>
          <a:p>
            <a:r>
              <a:t>4. Menjadi Single Source of Truth yang memudahkan penyediaan data bagi kementerian dan lembaga pengguna.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CATATAN PRESENTER:</a:t>
            </a:r>
          </a:p>
          <a:p>
            <a:r>
              <a:t>Sebagai penutup, SISNERLING adalah inovasi strategis yang memodernisasi cara BPS mengolah statistik neraca lingkungan hidup. Roadmap ke depan akan menghubungkan sistem ini langsung dengan API kementerian sektoral, memperluas cakupan ke neraca mineral, energi, dan air, serta menghadirkan analitik pintar untuk mendukung perumusan kebijakan pembangunan berkelanjutan. Terima kasih atas perhatian bapak/ibu sekalian, saya membuka sesi diskusi dan tanya jawab.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1371600"/>
            <a:ext cx="2011680"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600200"/>
            <a:ext cx="10058400" cy="1738938"/>
          </a:xfrm>
          <a:prstGeom prst="rect">
            <a:avLst/>
          </a:prstGeom>
          <a:noFill/>
        </p:spPr>
        <p:txBody>
          <a:bodyPr wrap="square">
            <a:spAutoFit/>
          </a:bodyPr>
          <a:lstStyle/>
          <a:p>
            <a:pPr>
              <a:spcAft>
                <a:spcPts val="1000"/>
              </a:spcAft>
              <a:defRPr sz="1200" b="1">
                <a:solidFill>
                  <a:srgbClr val="10B981"/>
                </a:solidFill>
              </a:defRPr>
            </a:pPr>
            <a:r>
              <a:rPr dirty="0"/>
              <a:t>BADAN PUSAT STATISTIK — INOVASI SISTEM INFORMASI STATISTIK LINGKUNGAN</a:t>
            </a:r>
          </a:p>
          <a:p>
            <a:pPr>
              <a:spcAft>
                <a:spcPts val="800"/>
              </a:spcAft>
              <a:defRPr sz="4400" b="1">
                <a:solidFill>
                  <a:srgbClr val="FFFFFF"/>
                </a:solidFill>
              </a:defRPr>
            </a:pPr>
            <a:r>
              <a:rPr dirty="0"/>
              <a:t>SISNERLING</a:t>
            </a:r>
          </a:p>
          <a:p>
            <a:pPr>
              <a:spcAft>
                <a:spcPts val="1400"/>
              </a:spcAft>
              <a:defRPr sz="1800" b="1">
                <a:solidFill>
                  <a:srgbClr val="3B82F6"/>
                </a:solidFill>
              </a:defRPr>
            </a:pPr>
            <a:r>
              <a:rPr dirty="0" err="1"/>
              <a:t>Rancang</a:t>
            </a:r>
            <a:r>
              <a:rPr dirty="0"/>
              <a:t> </a:t>
            </a:r>
            <a:r>
              <a:rPr dirty="0" err="1"/>
              <a:t>Bangun</a:t>
            </a:r>
            <a:r>
              <a:rPr dirty="0"/>
              <a:t> </a:t>
            </a:r>
            <a:r>
              <a:rPr dirty="0" err="1"/>
              <a:t>Sistem</a:t>
            </a:r>
            <a:r>
              <a:rPr dirty="0"/>
              <a:t> </a:t>
            </a:r>
            <a:r>
              <a:rPr dirty="0" err="1"/>
              <a:t>Informasi</a:t>
            </a:r>
            <a:r>
              <a:rPr dirty="0"/>
              <a:t> </a:t>
            </a:r>
            <a:r>
              <a:rPr dirty="0" err="1"/>
              <a:t>Pengolahan</a:t>
            </a:r>
            <a:r>
              <a:rPr dirty="0"/>
              <a:t> Data dan </a:t>
            </a:r>
            <a:r>
              <a:rPr dirty="0" err="1"/>
              <a:t>Kalkulasi</a:t>
            </a:r>
            <a:r>
              <a:rPr dirty="0"/>
              <a:t> </a:t>
            </a:r>
            <a:r>
              <a:rPr dirty="0" err="1"/>
              <a:t>Dinamis</a:t>
            </a:r>
            <a:r>
              <a:rPr dirty="0"/>
              <a:t> Neraca </a:t>
            </a:r>
            <a:r>
              <a:rPr dirty="0" err="1"/>
              <a:t>Lingkungan</a:t>
            </a:r>
            <a:r>
              <a:rPr dirty="0"/>
              <a:t> (SISNERLING) </a:t>
            </a:r>
            <a:r>
              <a:rPr dirty="0" err="1"/>
              <a:t>Berbasis</a:t>
            </a:r>
            <a:r>
              <a:rPr dirty="0"/>
              <a:t> Web pada </a:t>
            </a:r>
            <a:r>
              <a:rPr dirty="0" err="1"/>
              <a:t>Instansi</a:t>
            </a:r>
            <a:r>
              <a:rPr dirty="0"/>
              <a:t> Badan Pusat </a:t>
            </a:r>
            <a:r>
              <a:t>Statistik</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Latar Belakang &amp; Masalah Pengolahan Neraca di BPS</a:t>
            </a:r>
          </a:p>
        </p:txBody>
      </p:sp>
      <p:sp>
        <p:nvSpPr>
          <p:cNvPr id="5" name="Rounded Rectangle 4"/>
          <p:cNvSpPr/>
          <p:nvPr/>
        </p:nvSpPr>
        <p:spPr>
          <a:xfrm>
            <a:off x="731520" y="1645920"/>
            <a:ext cx="32918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20240"/>
            <a:ext cx="2834640" cy="3840480"/>
          </a:xfrm>
          <a:prstGeom prst="rect">
            <a:avLst/>
          </a:prstGeom>
          <a:noFill/>
        </p:spPr>
        <p:txBody>
          <a:bodyPr wrap="square">
            <a:spAutoFit/>
          </a:bodyPr>
          <a:lstStyle/>
          <a:p>
            <a:pPr>
              <a:spcAft>
                <a:spcPts val="1200"/>
              </a:spcAft>
              <a:defRPr sz="1100" b="1">
                <a:solidFill>
                  <a:srgbClr val="F59E0B"/>
                </a:solidFill>
              </a:defRPr>
            </a:pPr>
            <a:r>
              <a:t>KENDALA 01</a:t>
            </a:r>
          </a:p>
          <a:p>
            <a:pPr>
              <a:spcAft>
                <a:spcPts val="1400"/>
              </a:spcAft>
              <a:defRPr sz="1800" b="1">
                <a:solidFill>
                  <a:srgbClr val="FFFFFF"/>
                </a:solidFill>
              </a:defRPr>
            </a:pPr>
            <a:r>
              <a:t>Data Tercecer &amp; Desentralisasi</a:t>
            </a:r>
          </a:p>
          <a:p>
            <a:pPr>
              <a:defRPr sz="1300">
                <a:solidFill>
                  <a:srgbClr val="E2E8F0"/>
                </a:solidFill>
              </a:defRPr>
            </a:pPr>
            <a:r>
              <a:t>Penyusunan neraca lingkungan di BPS sebelumnya tersebar di puluhan berkas Excel lokal antar-seksi. Sulit mengontrol versi data termutakhir dan berisiko tinggi saat terjadi mutasi tim/staf penyusun.</a:t>
            </a:r>
          </a:p>
        </p:txBody>
      </p:sp>
      <p:sp>
        <p:nvSpPr>
          <p:cNvPr id="7" name="Rounded Rectangle 6"/>
          <p:cNvSpPr/>
          <p:nvPr/>
        </p:nvSpPr>
        <p:spPr>
          <a:xfrm>
            <a:off x="4389120" y="1645920"/>
            <a:ext cx="32918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920240"/>
            <a:ext cx="2834640" cy="3840480"/>
          </a:xfrm>
          <a:prstGeom prst="rect">
            <a:avLst/>
          </a:prstGeom>
          <a:noFill/>
        </p:spPr>
        <p:txBody>
          <a:bodyPr wrap="square">
            <a:spAutoFit/>
          </a:bodyPr>
          <a:lstStyle/>
          <a:p>
            <a:pPr>
              <a:spcAft>
                <a:spcPts val="1200"/>
              </a:spcAft>
              <a:defRPr sz="1100" b="1">
                <a:solidFill>
                  <a:srgbClr val="F59E0B"/>
                </a:solidFill>
              </a:defRPr>
            </a:pPr>
            <a:r>
              <a:t>KENDALA 02</a:t>
            </a:r>
          </a:p>
          <a:p>
            <a:pPr>
              <a:spcAft>
                <a:spcPts val="1400"/>
              </a:spcAft>
              <a:defRPr sz="1800" b="1">
                <a:solidFill>
                  <a:srgbClr val="FFFFFF"/>
                </a:solidFill>
              </a:defRPr>
            </a:pPr>
            <a:r>
              <a:t>Rekapitulasi Manual Lambat</a:t>
            </a:r>
          </a:p>
          <a:p>
            <a:pPr>
              <a:defRPr sz="1300">
                <a:solidFill>
                  <a:srgbClr val="E2E8F0"/>
                </a:solidFill>
              </a:defRPr>
            </a:pPr>
            <a:r>
              <a:t>Proses kompilasi dan konsolidasi data dari survei penunjang (kebakaran, reboisasi, produksi kayu) membutuhkan penyalinan manual bertahap yang memakan waktu berminggu-minggu hingga berbulan-bulan.</a:t>
            </a:r>
          </a:p>
        </p:txBody>
      </p:sp>
      <p:sp>
        <p:nvSpPr>
          <p:cNvPr id="9" name="Rounded Rectangle 8"/>
          <p:cNvSpPr/>
          <p:nvPr/>
        </p:nvSpPr>
        <p:spPr>
          <a:xfrm>
            <a:off x="8046720" y="1645920"/>
            <a:ext cx="32918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1920240"/>
            <a:ext cx="2834640" cy="3840480"/>
          </a:xfrm>
          <a:prstGeom prst="rect">
            <a:avLst/>
          </a:prstGeom>
          <a:noFill/>
        </p:spPr>
        <p:txBody>
          <a:bodyPr wrap="square">
            <a:spAutoFit/>
          </a:bodyPr>
          <a:lstStyle/>
          <a:p>
            <a:pPr>
              <a:spcAft>
                <a:spcPts val="1200"/>
              </a:spcAft>
              <a:defRPr sz="1100" b="1">
                <a:solidFill>
                  <a:srgbClr val="F59E0B"/>
                </a:solidFill>
              </a:defRPr>
            </a:pPr>
            <a:r>
              <a:t>KENDALA 03</a:t>
            </a:r>
          </a:p>
          <a:p>
            <a:pPr>
              <a:spcAft>
                <a:spcPts val="1400"/>
              </a:spcAft>
              <a:defRPr sz="1800" b="1">
                <a:solidFill>
                  <a:srgbClr val="FFFFFF"/>
                </a:solidFill>
              </a:defRPr>
            </a:pPr>
            <a:r>
              <a:t>Formula Rapuh &amp; Inkonsistensi</a:t>
            </a:r>
          </a:p>
          <a:p>
            <a:pPr>
              <a:defRPr sz="1300">
                <a:solidFill>
                  <a:srgbClr val="E2E8F0"/>
                </a:solidFill>
              </a:defRPr>
            </a:pPr>
            <a:r>
              <a:t>Ketergantungan rumus Excel lintas-sheet dan lintas-file kerap menimbulkan error (#REF!, #VALUE!). Ketiadaan validasi otomatis dan lock cell sering memicu selisih angka saat publikasi statistik.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Solusi: Pengenalan SISNERLING di Lingkungan BPS</a:t>
            </a:r>
          </a:p>
        </p:txBody>
      </p:sp>
      <p:sp>
        <p:nvSpPr>
          <p:cNvPr id="5" name="Rounded Rectangle 4"/>
          <p:cNvSpPr/>
          <p:nvPr/>
        </p:nvSpPr>
        <p:spPr>
          <a:xfrm>
            <a:off x="7315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4572000" cy="3840480"/>
          </a:xfrm>
          <a:prstGeom prst="rect">
            <a:avLst/>
          </a:prstGeom>
          <a:noFill/>
        </p:spPr>
        <p:txBody>
          <a:bodyPr wrap="square">
            <a:spAutoFit/>
          </a:bodyPr>
          <a:lstStyle/>
          <a:p>
            <a:pPr>
              <a:spcAft>
                <a:spcPts val="1200"/>
              </a:spcAft>
              <a:defRPr sz="1900" b="1">
                <a:solidFill>
                  <a:srgbClr val="10B981"/>
                </a:solidFill>
              </a:defRPr>
            </a:pPr>
            <a:r>
              <a:t>Apa itu SISNERLING?</a:t>
            </a:r>
          </a:p>
          <a:p>
            <a:pPr>
              <a:spcAft>
                <a:spcPts val="800"/>
              </a:spcAft>
              <a:defRPr sz="1250">
                <a:solidFill>
                  <a:srgbClr val="E2E8F0"/>
                </a:solidFill>
              </a:defRPr>
            </a:pPr>
            <a:r>
              <a:t>✔  Purwarupa (Prototype) aplikasi web yang dirancang untuk menginput, memvalidasi, merekapitulasi, dan mengkalkulasi neraca lingkungan secara berkala.</a:t>
            </a:r>
          </a:p>
          <a:p>
            <a:pPr>
              <a:spcAft>
                <a:spcPts val="800"/>
              </a:spcAft>
              <a:defRPr sz="1250">
                <a:solidFill>
                  <a:srgbClr val="E2E8F0"/>
                </a:solidFill>
              </a:defRPr>
            </a:pPr>
            <a:r>
              <a:t>✔  Mengadopsi antarmuka spreadsheet interaktif yang akrab bagi fungsional statistisi, didukung basis data terpusat yang aman.</a:t>
            </a:r>
          </a:p>
          <a:p>
            <a:pPr>
              <a:spcAft>
                <a:spcPts val="800"/>
              </a:spcAft>
              <a:defRPr sz="1250">
                <a:solidFill>
                  <a:srgbClr val="E2E8F0"/>
                </a:solidFill>
              </a:defRPr>
            </a:pPr>
            <a:r>
              <a:t>✔  Menyediakan mesin kalkulasi dinamis (neracaFormula Engine) yang menghitung fisik dan moneter secara otomatis.</a:t>
            </a:r>
          </a:p>
          <a:p>
            <a:pPr>
              <a:spcAft>
                <a:spcPts val="800"/>
              </a:spcAft>
              <a:defRPr sz="1250">
                <a:solidFill>
                  <a:srgbClr val="E2E8F0"/>
                </a:solidFill>
              </a:defRPr>
            </a:pPr>
            <a:r>
              <a:t>✔  Mendukung multi-sektor: Neraca Hutan, Neraca Mineral, Energi, dan Neraca Terintegrasi (System of Environmental-Economic Accounting / SEEA).</a:t>
            </a:r>
          </a:p>
        </p:txBody>
      </p:sp>
      <p:sp>
        <p:nvSpPr>
          <p:cNvPr id="7" name="Rounded Rectangle 6"/>
          <p:cNvSpPr/>
          <p:nvPr/>
        </p:nvSpPr>
        <p:spPr>
          <a:xfrm>
            <a:off x="6309360" y="1645920"/>
            <a:ext cx="5120640" cy="43891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920240"/>
            <a:ext cx="4572000" cy="3840480"/>
          </a:xfrm>
          <a:prstGeom prst="rect">
            <a:avLst/>
          </a:prstGeom>
          <a:noFill/>
        </p:spPr>
        <p:txBody>
          <a:bodyPr wrap="square">
            <a:spAutoFit/>
          </a:bodyPr>
          <a:lstStyle/>
          <a:p>
            <a:pPr>
              <a:spcAft>
                <a:spcPts val="1200"/>
              </a:spcAft>
              <a:defRPr sz="1900" b="1">
                <a:solidFill>
                  <a:srgbClr val="3B82F6"/>
                </a:solidFill>
              </a:defRPr>
            </a:pPr>
            <a:r>
              <a:t>Tujuan &amp; Sasaran Strategis</a:t>
            </a:r>
          </a:p>
          <a:p>
            <a:pPr>
              <a:spcAft>
                <a:spcPts val="800"/>
              </a:spcAft>
              <a:defRPr sz="1250">
                <a:solidFill>
                  <a:srgbClr val="E2E8F0"/>
                </a:solidFill>
              </a:defRPr>
            </a:pPr>
            <a:r>
              <a:t>★  Digitalisasi Penuh Siklus Neraca: Mengeliminasi ketergantungan berkas Excel lokal menjadi platform cloud terpusat.</a:t>
            </a:r>
          </a:p>
          <a:p>
            <a:pPr>
              <a:spcAft>
                <a:spcPts val="800"/>
              </a:spcAft>
              <a:defRPr sz="1250">
                <a:solidFill>
                  <a:srgbClr val="E2E8F0"/>
                </a:solidFill>
              </a:defRPr>
            </a:pPr>
            <a:r>
              <a:t>★  Single Source of Truth: Menjamin satu rujukan data neraca terpusat yang konsisten bagi seluruh kedeputian dan seksi di BPS.</a:t>
            </a:r>
          </a:p>
          <a:p>
            <a:pPr>
              <a:spcAft>
                <a:spcPts val="800"/>
              </a:spcAft>
              <a:defRPr sz="1250">
                <a:solidFill>
                  <a:srgbClr val="E2E8F0"/>
                </a:solidFill>
              </a:defRPr>
            </a:pPr>
            <a:r>
              <a:t>★  Kalkulasi Dinamis Terstandar: Menerapkan rumus baku SEEA PBB tanpa deviasi akibat kesalahan pengetikan rumus.</a:t>
            </a:r>
          </a:p>
          <a:p>
            <a:pPr>
              <a:spcAft>
                <a:spcPts val="800"/>
              </a:spcAft>
              <a:defRPr sz="1250">
                <a:solidFill>
                  <a:srgbClr val="E2E8F0"/>
                </a:solidFill>
              </a:defRPr>
            </a:pPr>
            <a:r>
              <a:t>★  Akuntabilitas &amp; Audit Trail: Mencatat riwayat setiap perubahan angka statistik secara transparan dan siap diaudit.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Fitur-Fitur Utama Sistem Aplikasi Web SISNERLING</a:t>
            </a:r>
          </a:p>
        </p:txBody>
      </p:sp>
      <p:sp>
        <p:nvSpPr>
          <p:cNvPr id="5" name="Rounded Rectangle 4"/>
          <p:cNvSpPr/>
          <p:nvPr/>
        </p:nvSpPr>
        <p:spPr>
          <a:xfrm>
            <a:off x="731520" y="1645920"/>
            <a:ext cx="5120640" cy="2057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4663440" cy="1691640"/>
          </a:xfrm>
          <a:prstGeom prst="rect">
            <a:avLst/>
          </a:prstGeom>
          <a:noFill/>
        </p:spPr>
        <p:txBody>
          <a:bodyPr wrap="square">
            <a:spAutoFit/>
          </a:bodyPr>
          <a:lstStyle/>
          <a:p>
            <a:pPr>
              <a:spcAft>
                <a:spcPts val="800"/>
              </a:spcAft>
              <a:defRPr sz="1600" b="1">
                <a:solidFill>
                  <a:srgbClr val="10B981"/>
                </a:solidFill>
              </a:defRPr>
            </a:pPr>
            <a:r>
              <a:t>1. Manajemen Hak Akses Multi-Role</a:t>
            </a:r>
          </a:p>
          <a:p>
            <a:pPr>
              <a:defRPr sz="1200">
                <a:solidFill>
                  <a:srgbClr val="E2E8F0"/>
                </a:solidFill>
              </a:defRPr>
            </a:pPr>
            <a:r>
              <a:t>Pemisahan peran berjenjang: User (Auditor/Viewer mode hanya-lihat), Admin/Operator (entri data sesuai batas penugasan tabel), dan Super Admin (kontrol penuh akun, backup, dan maintenance).</a:t>
            </a:r>
          </a:p>
        </p:txBody>
      </p:sp>
      <p:sp>
        <p:nvSpPr>
          <p:cNvPr id="7" name="Rounded Rectangle 6"/>
          <p:cNvSpPr/>
          <p:nvPr/>
        </p:nvSpPr>
        <p:spPr>
          <a:xfrm>
            <a:off x="6126480" y="1645920"/>
            <a:ext cx="5120640" cy="2057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828800"/>
            <a:ext cx="4663440" cy="1691640"/>
          </a:xfrm>
          <a:prstGeom prst="rect">
            <a:avLst/>
          </a:prstGeom>
          <a:noFill/>
        </p:spPr>
        <p:txBody>
          <a:bodyPr wrap="square">
            <a:spAutoFit/>
          </a:bodyPr>
          <a:lstStyle/>
          <a:p>
            <a:pPr>
              <a:spcAft>
                <a:spcPts val="800"/>
              </a:spcAft>
              <a:defRPr sz="1600" b="1">
                <a:solidFill>
                  <a:srgbClr val="10B981"/>
                </a:solidFill>
              </a:defRPr>
            </a:pPr>
            <a:r>
              <a:t>2. Form Input &amp; Pengolahan Neraca Dinamis</a:t>
            </a:r>
          </a:p>
          <a:p>
            <a:pPr>
              <a:defRPr sz="1200">
                <a:solidFill>
                  <a:srgbClr val="E2E8F0"/>
                </a:solidFill>
              </a:defRPr>
            </a:pPr>
            <a:r>
              <a:t>Halaman khusus input neraca deret waktu (Jati Jawa, Rimba Jawa, Luar Jawa, Indonesia) dengan auto-calculation instan persediaan awal, deplesi, reboisasi, saldo akhir, dan valuasi moneter.</a:t>
            </a:r>
          </a:p>
        </p:txBody>
      </p:sp>
      <p:sp>
        <p:nvSpPr>
          <p:cNvPr id="9" name="Rounded Rectangle 8"/>
          <p:cNvSpPr/>
          <p:nvPr/>
        </p:nvSpPr>
        <p:spPr>
          <a:xfrm>
            <a:off x="731520" y="3931920"/>
            <a:ext cx="5120640" cy="2057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114800"/>
            <a:ext cx="4663440" cy="1691640"/>
          </a:xfrm>
          <a:prstGeom prst="rect">
            <a:avLst/>
          </a:prstGeom>
          <a:noFill/>
        </p:spPr>
        <p:txBody>
          <a:bodyPr wrap="square">
            <a:spAutoFit/>
          </a:bodyPr>
          <a:lstStyle/>
          <a:p>
            <a:pPr>
              <a:spcAft>
                <a:spcPts val="800"/>
              </a:spcAft>
              <a:defRPr sz="1600" b="1">
                <a:solidFill>
                  <a:srgbClr val="10B981"/>
                </a:solidFill>
              </a:defRPr>
            </a:pPr>
            <a:r>
              <a:t>3. Statistical Spreadsheet &amp; Excel Import</a:t>
            </a:r>
          </a:p>
          <a:p>
            <a:pPr>
              <a:defRPr sz="1200">
                <a:solidFill>
                  <a:srgbClr val="E2E8F0"/>
                </a:solidFill>
              </a:defRPr>
            </a:pPr>
            <a:r>
              <a:t>Editor spreadsheet interaktif berbasis browser dengan formula evaluator lengkap, import berkas .xlsx instan, penataan kategori neraca, dan proteksi penguncian sel (cell-level lock).</a:t>
            </a:r>
          </a:p>
        </p:txBody>
      </p:sp>
      <p:sp>
        <p:nvSpPr>
          <p:cNvPr id="11" name="Rounded Rectangle 10"/>
          <p:cNvSpPr/>
          <p:nvPr/>
        </p:nvSpPr>
        <p:spPr>
          <a:xfrm>
            <a:off x="6126480" y="3931920"/>
            <a:ext cx="5120640" cy="2057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4114800"/>
            <a:ext cx="4663440" cy="1691640"/>
          </a:xfrm>
          <a:prstGeom prst="rect">
            <a:avLst/>
          </a:prstGeom>
          <a:noFill/>
        </p:spPr>
        <p:txBody>
          <a:bodyPr wrap="square">
            <a:spAutoFit/>
          </a:bodyPr>
          <a:lstStyle/>
          <a:p>
            <a:pPr>
              <a:spcAft>
                <a:spcPts val="800"/>
              </a:spcAft>
              <a:defRPr sz="1600" b="1">
                <a:solidFill>
                  <a:srgbClr val="10B981"/>
                </a:solidFill>
              </a:defRPr>
            </a:pPr>
            <a:r>
              <a:t>4. Dashboard Analytics &amp; Export Laporan</a:t>
            </a:r>
          </a:p>
          <a:p>
            <a:pPr>
              <a:defRPr sz="1200">
                <a:solidFill>
                  <a:srgbClr val="E2E8F0"/>
                </a:solidFill>
              </a:defRPr>
            </a:pPr>
            <a:r>
              <a:t>Visualisasi tren data deret waktu tahunan, pemantauan saldo neraca lingkungan, serta fitur export laporan instan ke format Excel dan PDF terstandar.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Alur Kerja Sistem (Workflow Operasional di BPS)</a:t>
            </a:r>
          </a:p>
        </p:txBody>
      </p:sp>
      <p:sp>
        <p:nvSpPr>
          <p:cNvPr id="5" name="Rounded Rectangle 4"/>
          <p:cNvSpPr/>
          <p:nvPr/>
        </p:nvSpPr>
        <p:spPr>
          <a:xfrm>
            <a:off x="731520" y="1645920"/>
            <a:ext cx="20574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74520"/>
            <a:ext cx="1783080" cy="3931920"/>
          </a:xfrm>
          <a:prstGeom prst="rect">
            <a:avLst/>
          </a:prstGeom>
          <a:noFill/>
        </p:spPr>
        <p:txBody>
          <a:bodyPr wrap="square">
            <a:spAutoFit/>
          </a:bodyPr>
          <a:lstStyle/>
          <a:p>
            <a:pPr>
              <a:spcAft>
                <a:spcPts val="1000"/>
              </a:spcAft>
              <a:defRPr sz="1100" b="1">
                <a:solidFill>
                  <a:srgbClr val="F59E0B"/>
                </a:solidFill>
              </a:defRPr>
            </a:pPr>
            <a:r>
              <a:t>TAHAP 01</a:t>
            </a:r>
          </a:p>
          <a:p>
            <a:pPr>
              <a:spcAft>
                <a:spcPts val="1200"/>
              </a:spcAft>
              <a:defRPr sz="1500" b="1">
                <a:solidFill>
                  <a:srgbClr val="FFFFFF"/>
                </a:solidFill>
              </a:defRPr>
            </a:pPr>
            <a:r>
              <a:t>Login &amp; Otorisasi</a:t>
            </a:r>
          </a:p>
          <a:p>
            <a:pPr>
              <a:defRPr sz="1200">
                <a:solidFill>
                  <a:srgbClr val="E2E8F0"/>
                </a:solidFill>
              </a:defRPr>
            </a:pPr>
            <a:r>
              <a:t>Statistisi/Operator login dengan autentikasi aman, mengakses sheet sesuai penugasan tabel dari Super Admin.</a:t>
            </a:r>
          </a:p>
        </p:txBody>
      </p:sp>
      <p:sp>
        <p:nvSpPr>
          <p:cNvPr id="7" name="Rounded Rectangle 6"/>
          <p:cNvSpPr/>
          <p:nvPr/>
        </p:nvSpPr>
        <p:spPr>
          <a:xfrm>
            <a:off x="2971800" y="1645920"/>
            <a:ext cx="20574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0" y="1874520"/>
            <a:ext cx="1783080" cy="3931920"/>
          </a:xfrm>
          <a:prstGeom prst="rect">
            <a:avLst/>
          </a:prstGeom>
          <a:noFill/>
        </p:spPr>
        <p:txBody>
          <a:bodyPr wrap="square">
            <a:spAutoFit/>
          </a:bodyPr>
          <a:lstStyle/>
          <a:p>
            <a:pPr>
              <a:spcAft>
                <a:spcPts val="1000"/>
              </a:spcAft>
              <a:defRPr sz="1100" b="1">
                <a:solidFill>
                  <a:srgbClr val="F59E0B"/>
                </a:solidFill>
              </a:defRPr>
            </a:pPr>
            <a:r>
              <a:t>TAHAP 02</a:t>
            </a:r>
          </a:p>
          <a:p>
            <a:pPr>
              <a:spcAft>
                <a:spcPts val="1200"/>
              </a:spcAft>
              <a:defRPr sz="1500" b="1">
                <a:solidFill>
                  <a:srgbClr val="FFFFFF"/>
                </a:solidFill>
              </a:defRPr>
            </a:pPr>
            <a:r>
              <a:t>Input Data Tahunan</a:t>
            </a:r>
          </a:p>
          <a:p>
            <a:pPr>
              <a:defRPr sz="1200">
                <a:solidFill>
                  <a:srgbClr val="E2E8F0"/>
                </a:solidFill>
              </a:defRPr>
            </a:pPr>
            <a:r>
              <a:t>Menginput data fisik (pertumbuhan, penanaman, penebangan) dan parameter ekonomi pada form spreadsheet interaktif.</a:t>
            </a:r>
          </a:p>
        </p:txBody>
      </p:sp>
      <p:sp>
        <p:nvSpPr>
          <p:cNvPr id="9" name="Rounded Rectangle 8"/>
          <p:cNvSpPr/>
          <p:nvPr/>
        </p:nvSpPr>
        <p:spPr>
          <a:xfrm>
            <a:off x="5212080" y="1645920"/>
            <a:ext cx="205740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49240" y="1874520"/>
            <a:ext cx="1783080" cy="3931920"/>
          </a:xfrm>
          <a:prstGeom prst="rect">
            <a:avLst/>
          </a:prstGeom>
          <a:noFill/>
        </p:spPr>
        <p:txBody>
          <a:bodyPr wrap="square">
            <a:spAutoFit/>
          </a:bodyPr>
          <a:lstStyle/>
          <a:p>
            <a:pPr>
              <a:spcAft>
                <a:spcPts val="1000"/>
              </a:spcAft>
              <a:defRPr sz="1100" b="1">
                <a:solidFill>
                  <a:srgbClr val="F59E0B"/>
                </a:solidFill>
              </a:defRPr>
            </a:pPr>
            <a:r>
              <a:t>TAHAP 03</a:t>
            </a:r>
          </a:p>
          <a:p>
            <a:pPr>
              <a:spcAft>
                <a:spcPts val="1200"/>
              </a:spcAft>
              <a:defRPr sz="1500" b="1">
                <a:solidFill>
                  <a:srgbClr val="FFFFFF"/>
                </a:solidFill>
              </a:defRPr>
            </a:pPr>
            <a:r>
              <a:t>Kalkulasi Dinamis</a:t>
            </a:r>
          </a:p>
          <a:p>
            <a:pPr>
              <a:defRPr sz="1200">
                <a:solidFill>
                  <a:srgbClr val="E2E8F0"/>
                </a:solidFill>
              </a:defRPr>
            </a:pPr>
            <a:r>
              <a:t>Engine otomatis menghitung perubahan neto, saldo akhir fisik, unit rent, dan valuasi moneter hingga agregasi nasional.</a:t>
            </a:r>
          </a:p>
        </p:txBody>
      </p:sp>
      <p:sp>
        <p:nvSpPr>
          <p:cNvPr id="11" name="Rounded Rectangle 10"/>
          <p:cNvSpPr/>
          <p:nvPr/>
        </p:nvSpPr>
        <p:spPr>
          <a:xfrm>
            <a:off x="7452360" y="1645920"/>
            <a:ext cx="20574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0" y="1874520"/>
            <a:ext cx="1783080" cy="3931920"/>
          </a:xfrm>
          <a:prstGeom prst="rect">
            <a:avLst/>
          </a:prstGeom>
          <a:noFill/>
        </p:spPr>
        <p:txBody>
          <a:bodyPr wrap="square">
            <a:spAutoFit/>
          </a:bodyPr>
          <a:lstStyle/>
          <a:p>
            <a:pPr>
              <a:spcAft>
                <a:spcPts val="1000"/>
              </a:spcAft>
              <a:defRPr sz="1100" b="1">
                <a:solidFill>
                  <a:srgbClr val="F59E0B"/>
                </a:solidFill>
              </a:defRPr>
            </a:pPr>
            <a:r>
              <a:t>TAHAP 04</a:t>
            </a:r>
          </a:p>
          <a:p>
            <a:pPr>
              <a:spcAft>
                <a:spcPts val="1200"/>
              </a:spcAft>
              <a:defRPr sz="1500" b="1">
                <a:solidFill>
                  <a:srgbClr val="FFFFFF"/>
                </a:solidFill>
              </a:defRPr>
            </a:pPr>
            <a:r>
              <a:t>Validasi Berjenjang</a:t>
            </a:r>
          </a:p>
          <a:p>
            <a:pPr>
              <a:defRPr sz="1200">
                <a:solidFill>
                  <a:srgbClr val="E2E8F0"/>
                </a:solidFill>
              </a:defRPr>
            </a:pPr>
            <a:r>
              <a:t>Penanggung jawab/Validator memeriksa kewajaran angka statistik, status sel, dan konsistensi lintas seksi.</a:t>
            </a:r>
          </a:p>
        </p:txBody>
      </p:sp>
      <p:sp>
        <p:nvSpPr>
          <p:cNvPr id="13" name="Rounded Rectangle 12"/>
          <p:cNvSpPr/>
          <p:nvPr/>
        </p:nvSpPr>
        <p:spPr>
          <a:xfrm>
            <a:off x="9692640" y="1645920"/>
            <a:ext cx="2057400" cy="43891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29800" y="1874520"/>
            <a:ext cx="1783080" cy="3931920"/>
          </a:xfrm>
          <a:prstGeom prst="rect">
            <a:avLst/>
          </a:prstGeom>
          <a:noFill/>
        </p:spPr>
        <p:txBody>
          <a:bodyPr wrap="square">
            <a:spAutoFit/>
          </a:bodyPr>
          <a:lstStyle/>
          <a:p>
            <a:pPr>
              <a:spcAft>
                <a:spcPts val="1000"/>
              </a:spcAft>
              <a:defRPr sz="1100" b="1">
                <a:solidFill>
                  <a:srgbClr val="F59E0B"/>
                </a:solidFill>
              </a:defRPr>
            </a:pPr>
            <a:r>
              <a:t>TAHAP 05</a:t>
            </a:r>
          </a:p>
          <a:p>
            <a:pPr>
              <a:spcAft>
                <a:spcPts val="1200"/>
              </a:spcAft>
              <a:defRPr sz="1500" b="1">
                <a:solidFill>
                  <a:srgbClr val="FFFFFF"/>
                </a:solidFill>
              </a:defRPr>
            </a:pPr>
            <a:r>
              <a:t>Diseminasi &amp; Publikasi</a:t>
            </a:r>
          </a:p>
          <a:p>
            <a:pPr>
              <a:defRPr sz="1200">
                <a:solidFill>
                  <a:srgbClr val="E2E8F0"/>
                </a:solidFill>
              </a:defRPr>
            </a:pPr>
            <a:r>
              <a:t>Data neraca yang telah tervalidasi dapat dipantau pada Dashboard Analytics dan diekspor ke draf laporan publikasi BPS.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Arsitektur Sistem &amp; Tumpukan Teknologi (Tech Stack)</a:t>
            </a:r>
          </a:p>
        </p:txBody>
      </p:sp>
      <p:sp>
        <p:nvSpPr>
          <p:cNvPr id="5" name="Rounded Rectangle 4"/>
          <p:cNvSpPr/>
          <p:nvPr/>
        </p:nvSpPr>
        <p:spPr>
          <a:xfrm>
            <a:off x="731520" y="1645920"/>
            <a:ext cx="32918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20240"/>
            <a:ext cx="2834640" cy="3840480"/>
          </a:xfrm>
          <a:prstGeom prst="rect">
            <a:avLst/>
          </a:prstGeom>
          <a:noFill/>
        </p:spPr>
        <p:txBody>
          <a:bodyPr wrap="square">
            <a:spAutoFit/>
          </a:bodyPr>
          <a:lstStyle/>
          <a:p>
            <a:pPr>
              <a:defRPr sz="1600" b="1">
                <a:solidFill>
                  <a:srgbClr val="FFFFFF"/>
                </a:solidFill>
              </a:defRPr>
            </a:pPr>
            <a:r>
              <a:t>Frontend Application</a:t>
            </a:r>
          </a:p>
          <a:p>
            <a:pPr>
              <a:spcAft>
                <a:spcPts val="1400"/>
              </a:spcAft>
              <a:defRPr sz="1200" b="1">
                <a:solidFill>
                  <a:srgbClr val="3B82F6"/>
                </a:solidFill>
              </a:defRPr>
            </a:pPr>
            <a:r>
              <a:t>React + Vite (SPA)</a:t>
            </a:r>
          </a:p>
          <a:p>
            <a:pPr>
              <a:spcAft>
                <a:spcPts val="600"/>
              </a:spcAft>
              <a:defRPr sz="1200">
                <a:solidFill>
                  <a:srgbClr val="E2E8F0"/>
                </a:solidFill>
              </a:defRPr>
            </a:pPr>
            <a:r>
              <a:t>•  Vanilla CSS modern: performa tinggi tanpa bloatware</a:t>
            </a:r>
          </a:p>
          <a:p>
            <a:pPr>
              <a:spcAft>
                <a:spcPts val="600"/>
              </a:spcAft>
              <a:defRPr sz="1200">
                <a:solidFill>
                  <a:srgbClr val="E2E8F0"/>
                </a:solidFill>
              </a:defRPr>
            </a:pPr>
            <a:r>
              <a:t>•  Custom Spreadsheet Grid &amp; Interactive Sheet Tabs</a:t>
            </a:r>
          </a:p>
          <a:p>
            <a:pPr>
              <a:spcAft>
                <a:spcPts val="600"/>
              </a:spcAft>
              <a:defRPr sz="1200">
                <a:solidFill>
                  <a:srgbClr val="E2E8F0"/>
                </a:solidFill>
              </a:defRPr>
            </a:pPr>
            <a:r>
              <a:t>•  Dashboard Tren Deret Waktu &amp; Filter Fleksibel</a:t>
            </a:r>
          </a:p>
          <a:p>
            <a:pPr>
              <a:spcAft>
                <a:spcPts val="600"/>
              </a:spcAft>
              <a:defRPr sz="1200">
                <a:solidFill>
                  <a:srgbClr val="E2E8F0"/>
                </a:solidFill>
              </a:defRPr>
            </a:pPr>
            <a:r>
              <a:t>•  Koneksi WebSocket real-time untuk kolaborasi</a:t>
            </a:r>
          </a:p>
        </p:txBody>
      </p:sp>
      <p:sp>
        <p:nvSpPr>
          <p:cNvPr id="7" name="Rounded Rectangle 6"/>
          <p:cNvSpPr/>
          <p:nvPr/>
        </p:nvSpPr>
        <p:spPr>
          <a:xfrm>
            <a:off x="4389120" y="1645920"/>
            <a:ext cx="32918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920240"/>
            <a:ext cx="2834640" cy="3840480"/>
          </a:xfrm>
          <a:prstGeom prst="rect">
            <a:avLst/>
          </a:prstGeom>
          <a:noFill/>
        </p:spPr>
        <p:txBody>
          <a:bodyPr wrap="square">
            <a:spAutoFit/>
          </a:bodyPr>
          <a:lstStyle/>
          <a:p>
            <a:pPr>
              <a:defRPr sz="1600" b="1">
                <a:solidFill>
                  <a:srgbClr val="FFFFFF"/>
                </a:solidFill>
              </a:defRPr>
            </a:pPr>
            <a:r>
              <a:t>Backend Services</a:t>
            </a:r>
          </a:p>
          <a:p>
            <a:pPr>
              <a:spcAft>
                <a:spcPts val="1400"/>
              </a:spcAft>
              <a:defRPr sz="1200" b="1">
                <a:solidFill>
                  <a:srgbClr val="3B82F6"/>
                </a:solidFill>
              </a:defRPr>
            </a:pPr>
            <a:r>
              <a:t>Node.js + Express.js</a:t>
            </a:r>
          </a:p>
          <a:p>
            <a:pPr>
              <a:spcAft>
                <a:spcPts val="600"/>
              </a:spcAft>
              <a:defRPr sz="1200">
                <a:solidFill>
                  <a:srgbClr val="E2E8F0"/>
                </a:solidFill>
              </a:defRPr>
            </a:pPr>
            <a:r>
              <a:t>•  RESTful API modular &amp; arsitektur event-driven</a:t>
            </a:r>
          </a:p>
          <a:p>
            <a:pPr>
              <a:spcAft>
                <a:spcPts val="600"/>
              </a:spcAft>
              <a:defRPr sz="1200">
                <a:solidFill>
                  <a:srgbClr val="E2E8F0"/>
                </a:solidFill>
              </a:defRPr>
            </a:pPr>
            <a:r>
              <a:t>•  Mesin Neraca Formula Dinamis (neracaFormula.js)</a:t>
            </a:r>
          </a:p>
          <a:p>
            <a:pPr>
              <a:spcAft>
                <a:spcPts val="600"/>
              </a:spcAft>
              <a:defRPr sz="1200">
                <a:solidFill>
                  <a:srgbClr val="E2E8F0"/>
                </a:solidFill>
              </a:defRPr>
            </a:pPr>
            <a:r>
              <a:t>•  Autentikasi JWT, Scope Assignment, &amp; Audit Log</a:t>
            </a:r>
          </a:p>
          <a:p>
            <a:pPr>
              <a:spcAft>
                <a:spcPts val="600"/>
              </a:spcAft>
              <a:defRPr sz="1200">
                <a:solidFill>
                  <a:srgbClr val="E2E8F0"/>
                </a:solidFill>
              </a:defRPr>
            </a:pPr>
            <a:r>
              <a:t>•  Excel Import/Export Streaming Parser (.xlsx)</a:t>
            </a:r>
          </a:p>
        </p:txBody>
      </p:sp>
      <p:sp>
        <p:nvSpPr>
          <p:cNvPr id="9" name="Rounded Rectangle 8"/>
          <p:cNvSpPr/>
          <p:nvPr/>
        </p:nvSpPr>
        <p:spPr>
          <a:xfrm>
            <a:off x="8046720" y="1645920"/>
            <a:ext cx="32918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1920240"/>
            <a:ext cx="2834640" cy="3840480"/>
          </a:xfrm>
          <a:prstGeom prst="rect">
            <a:avLst/>
          </a:prstGeom>
          <a:noFill/>
        </p:spPr>
        <p:txBody>
          <a:bodyPr wrap="square">
            <a:spAutoFit/>
          </a:bodyPr>
          <a:lstStyle/>
          <a:p>
            <a:pPr>
              <a:defRPr sz="1600" b="1">
                <a:solidFill>
                  <a:srgbClr val="FFFFFF"/>
                </a:solidFill>
              </a:defRPr>
            </a:pPr>
            <a:r>
              <a:t>Basis Data &amp; Komunikasi</a:t>
            </a:r>
          </a:p>
          <a:p>
            <a:pPr>
              <a:spcAft>
                <a:spcPts val="1400"/>
              </a:spcAft>
              <a:defRPr sz="1200" b="1">
                <a:solidFill>
                  <a:srgbClr val="3B82F6"/>
                </a:solidFill>
              </a:defRPr>
            </a:pPr>
            <a:r>
              <a:t>MySQL + WebSocket</a:t>
            </a:r>
          </a:p>
          <a:p>
            <a:pPr>
              <a:spcAft>
                <a:spcPts val="600"/>
              </a:spcAft>
              <a:defRPr sz="1200">
                <a:solidFill>
                  <a:srgbClr val="E2E8F0"/>
                </a:solidFill>
              </a:defRPr>
            </a:pPr>
            <a:r>
              <a:t>•  Skema Long-Format ternormalisasi + Metadata</a:t>
            </a:r>
          </a:p>
          <a:p>
            <a:pPr>
              <a:spcAft>
                <a:spcPts val="600"/>
              </a:spcAft>
              <a:defRPr sz="1200">
                <a:solidFill>
                  <a:srgbClr val="E2E8F0"/>
                </a:solidFill>
              </a:defRPr>
            </a:pPr>
            <a:r>
              <a:t>•  Transaksi ACID menjamin integritas angka neraca</a:t>
            </a:r>
          </a:p>
          <a:p>
            <a:pPr>
              <a:spcAft>
                <a:spcPts val="600"/>
              </a:spcAft>
              <a:defRPr sz="1200">
                <a:solidFill>
                  <a:srgbClr val="E2E8F0"/>
                </a:solidFill>
              </a:defRPr>
            </a:pPr>
            <a:r>
              <a:t>•  Real-time Collaboration &amp; Cell-Level Locking</a:t>
            </a:r>
          </a:p>
          <a:p>
            <a:pPr>
              <a:spcAft>
                <a:spcPts val="600"/>
              </a:spcAft>
              <a:defRPr sz="1200">
                <a:solidFill>
                  <a:srgbClr val="E2E8F0"/>
                </a:solidFill>
              </a:defRPr>
            </a:pPr>
            <a:r>
              <a:t>•  Sistem Backup &amp; Restore database terintegrasi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Kalkulasi Dinamis &amp; Inovasi Dual-Layer Data</a:t>
            </a:r>
          </a:p>
        </p:txBody>
      </p:sp>
      <p:sp>
        <p:nvSpPr>
          <p:cNvPr id="5" name="Rounded Rectangle 4"/>
          <p:cNvSpPr/>
          <p:nvPr/>
        </p:nvSpPr>
        <p:spPr>
          <a:xfrm>
            <a:off x="7315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4572000" cy="3840480"/>
          </a:xfrm>
          <a:prstGeom prst="rect">
            <a:avLst/>
          </a:prstGeom>
          <a:noFill/>
        </p:spPr>
        <p:txBody>
          <a:bodyPr wrap="square">
            <a:spAutoFit/>
          </a:bodyPr>
          <a:lstStyle/>
          <a:p>
            <a:pPr>
              <a:spcAft>
                <a:spcPts val="1200"/>
              </a:spcAft>
              <a:defRPr sz="1700" b="1">
                <a:solidFill>
                  <a:srgbClr val="10B981"/>
                </a:solidFill>
              </a:defRPr>
            </a:pPr>
            <a:r>
              <a:t>Mesin Kalkulasi Dinamis (DAG Engine)</a:t>
            </a:r>
          </a:p>
          <a:p>
            <a:pPr>
              <a:spcAft>
                <a:spcPts val="800"/>
              </a:spcAft>
              <a:defRPr sz="1250">
                <a:solidFill>
                  <a:srgbClr val="E2E8F0"/>
                </a:solidFill>
              </a:defRPr>
            </a:pPr>
            <a:r>
              <a:t>✔ Evaluasi Rumus Otomatis: Menghitung persediaan awal tahun berjalan dari saldo akhir tahun sebelumnya secara berantai.</a:t>
            </a:r>
          </a:p>
          <a:p>
            <a:pPr>
              <a:spcAft>
                <a:spcPts val="800"/>
              </a:spcAft>
              <a:defRPr sz="1250">
                <a:solidFill>
                  <a:srgbClr val="E2E8F0"/>
                </a:solidFill>
              </a:defRPr>
            </a:pPr>
            <a:r>
              <a:t>✔ Keterkaitan Antar-Variabel: Perubahan neto fisik langsung mengalir ke perhitungan neraca moneter dan revaluasi harga sewa.</a:t>
            </a:r>
          </a:p>
          <a:p>
            <a:pPr>
              <a:spcAft>
                <a:spcPts val="800"/>
              </a:spcAft>
              <a:defRPr sz="1250">
                <a:solidFill>
                  <a:srgbClr val="E2E8F0"/>
                </a:solidFill>
              </a:defRPr>
            </a:pPr>
            <a:r>
              <a:t>✔ Konsolidasi Otomatis Nasional: Data wilayah (Jati Jawa, Rimba Jawa, Luar Jawa) secara dinamis diagregasikan ke sheet Indonesia.</a:t>
            </a:r>
          </a:p>
          <a:p>
            <a:pPr>
              <a:spcAft>
                <a:spcPts val="800"/>
              </a:spcAft>
              <a:defRPr sz="1250">
                <a:solidFill>
                  <a:srgbClr val="E2E8F0"/>
                </a:solidFill>
              </a:defRPr>
            </a:pPr>
            <a:r>
              <a:t>✔ Directed Acyclic Graph (DAG): Mencegah kesalahan sirkular (circular reference) dan memastikan urutan perhitungan presisi.</a:t>
            </a:r>
          </a:p>
        </p:txBody>
      </p:sp>
      <p:sp>
        <p:nvSpPr>
          <p:cNvPr id="7" name="Rounded Rectangle 6"/>
          <p:cNvSpPr/>
          <p:nvPr/>
        </p:nvSpPr>
        <p:spPr>
          <a:xfrm>
            <a:off x="6309360" y="1645920"/>
            <a:ext cx="5120640" cy="43891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920240"/>
            <a:ext cx="4572000" cy="3840480"/>
          </a:xfrm>
          <a:prstGeom prst="rect">
            <a:avLst/>
          </a:prstGeom>
          <a:noFill/>
        </p:spPr>
        <p:txBody>
          <a:bodyPr wrap="square">
            <a:spAutoFit/>
          </a:bodyPr>
          <a:lstStyle/>
          <a:p>
            <a:pPr>
              <a:spcAft>
                <a:spcPts val="1200"/>
              </a:spcAft>
              <a:defRPr sz="1700" b="1">
                <a:solidFill>
                  <a:srgbClr val="3B82F6"/>
                </a:solidFill>
              </a:defRPr>
            </a:pPr>
            <a:r>
              <a:t>Pemisahan Lapis Logis vs Lapis Visual</a:t>
            </a:r>
          </a:p>
          <a:p>
            <a:pPr>
              <a:spcAft>
                <a:spcPts val="800"/>
              </a:spcAft>
              <a:defRPr sz="1250">
                <a:solidFill>
                  <a:srgbClr val="E2E8F0"/>
                </a:solidFill>
              </a:defRPr>
            </a:pPr>
            <a:r>
              <a:t>✔ Lapis Logis (Database Truth): Normalisasi nilai_variabel(variabel, tahun) menghindari pembuatan puluhan tabel kaku.</a:t>
            </a:r>
          </a:p>
          <a:p>
            <a:pPr>
              <a:spcAft>
                <a:spcPts val="800"/>
              </a:spcAft>
              <a:defRPr sz="1250">
                <a:solidFill>
                  <a:srgbClr val="E2E8F0"/>
                </a:solidFill>
              </a:defRPr>
            </a:pPr>
            <a:r>
              <a:t>✔ Lapis Visual (Spreadsheet Grid): Mempertahankan tampilan format tabular, merge cell, dan warna kategori yang sudah akrab bagi statistisi.</a:t>
            </a:r>
          </a:p>
          <a:p>
            <a:pPr>
              <a:spcAft>
                <a:spcPts val="800"/>
              </a:spcAft>
              <a:defRPr sz="1250">
                <a:solidFill>
                  <a:srgbClr val="E2E8F0"/>
                </a:solidFill>
              </a:defRPr>
            </a:pPr>
            <a:r>
              <a:t>✔ Zero-Loss Format: Data yang diolah dapat diekspor kembali menjadi format laporan dan template format laporan publikasi BPS.</a:t>
            </a:r>
          </a:p>
          <a:p>
            <a:pPr>
              <a:spcAft>
                <a:spcPts val="800"/>
              </a:spcAft>
              <a:defRPr sz="1250">
                <a:solidFill>
                  <a:srgbClr val="E2E8F0"/>
                </a:solidFill>
              </a:defRPr>
            </a:pPr>
            <a:r>
              <a:t>✔ Fleksibel untuk Komoditas Baru: Skema database dapat langsung menampung neraca sumber daya alam lainnya tanpa rombak tabel.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Implementasi: Neraca Hutan &amp; Neraca Kayu (Timber)</a:t>
            </a:r>
          </a:p>
        </p:txBody>
      </p:sp>
      <p:sp>
        <p:nvSpPr>
          <p:cNvPr id="5" name="Rounded Rectangle 4"/>
          <p:cNvSpPr/>
          <p:nvPr/>
        </p:nvSpPr>
        <p:spPr>
          <a:xfrm>
            <a:off x="731520" y="1645920"/>
            <a:ext cx="25146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148840" cy="3931920"/>
          </a:xfrm>
          <a:prstGeom prst="rect">
            <a:avLst/>
          </a:prstGeom>
          <a:noFill/>
        </p:spPr>
        <p:txBody>
          <a:bodyPr wrap="square">
            <a:spAutoFit/>
          </a:bodyPr>
          <a:lstStyle/>
          <a:p>
            <a:pPr>
              <a:spcAft>
                <a:spcPts val="1000"/>
              </a:spcAft>
              <a:defRPr sz="1500" b="1">
                <a:solidFill>
                  <a:srgbClr val="F59E0B"/>
                </a:solidFill>
              </a:defRPr>
            </a:pPr>
            <a:r>
              <a:t>Neraca Fisik (Volume &amp; Luas)</a:t>
            </a:r>
          </a:p>
          <a:p>
            <a:pPr>
              <a:defRPr sz="1200">
                <a:solidFill>
                  <a:srgbClr val="E2E8F0"/>
                </a:solidFill>
              </a:defRPr>
            </a:pPr>
            <a:r>
              <a:t>Pencatatan volume tegakan kayu (m³) dan tutupan lahan (Ha) per tahun: saldo awal, penambahan alami, reboisasi, penebangan, kebakaran hutan, hingga saldo akhir.</a:t>
            </a:r>
          </a:p>
        </p:txBody>
      </p:sp>
      <p:sp>
        <p:nvSpPr>
          <p:cNvPr id="7" name="Rounded Rectangle 6"/>
          <p:cNvSpPr/>
          <p:nvPr/>
        </p:nvSpPr>
        <p:spPr>
          <a:xfrm>
            <a:off x="3429000" y="1645920"/>
            <a:ext cx="25146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874520"/>
            <a:ext cx="2148840" cy="3931920"/>
          </a:xfrm>
          <a:prstGeom prst="rect">
            <a:avLst/>
          </a:prstGeom>
          <a:noFill/>
        </p:spPr>
        <p:txBody>
          <a:bodyPr wrap="square">
            <a:spAutoFit/>
          </a:bodyPr>
          <a:lstStyle/>
          <a:p>
            <a:pPr>
              <a:spcAft>
                <a:spcPts val="1000"/>
              </a:spcAft>
              <a:defRPr sz="1500" b="1">
                <a:solidFill>
                  <a:srgbClr val="F59E0B"/>
                </a:solidFill>
              </a:defRPr>
            </a:pPr>
            <a:r>
              <a:t>Unit Rent &amp; Neraca Moneter</a:t>
            </a:r>
          </a:p>
          <a:p>
            <a:pPr>
              <a:defRPr sz="1200">
                <a:solidFill>
                  <a:srgbClr val="E2E8F0"/>
                </a:solidFill>
              </a:defRPr>
            </a:pPr>
            <a:r>
              <a:t>Perhitungan sewa ekonomi sumber daya (resource rent) per m³, biaya eksploitasi, valuasi moneter rupiah, nilai deplesi ekonomi, dan revaluasi aset hutan.</a:t>
            </a:r>
          </a:p>
        </p:txBody>
      </p:sp>
      <p:sp>
        <p:nvSpPr>
          <p:cNvPr id="9" name="Rounded Rectangle 8"/>
          <p:cNvSpPr/>
          <p:nvPr/>
        </p:nvSpPr>
        <p:spPr>
          <a:xfrm>
            <a:off x="6126480" y="1645920"/>
            <a:ext cx="25146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874520"/>
            <a:ext cx="2148840" cy="3931920"/>
          </a:xfrm>
          <a:prstGeom prst="rect">
            <a:avLst/>
          </a:prstGeom>
          <a:noFill/>
        </p:spPr>
        <p:txBody>
          <a:bodyPr wrap="square">
            <a:spAutoFit/>
          </a:bodyPr>
          <a:lstStyle/>
          <a:p>
            <a:pPr>
              <a:spcAft>
                <a:spcPts val="1000"/>
              </a:spcAft>
              <a:defRPr sz="1500" b="1">
                <a:solidFill>
                  <a:srgbClr val="F59E0B"/>
                </a:solidFill>
              </a:defRPr>
            </a:pPr>
            <a:r>
              <a:t>Segmentasi Wilayah &amp; Komoditas</a:t>
            </a:r>
          </a:p>
          <a:p>
            <a:pPr>
              <a:defRPr sz="1200">
                <a:solidFill>
                  <a:srgbClr val="E2E8F0"/>
                </a:solidFill>
              </a:defRPr>
            </a:pPr>
            <a:r>
              <a:t>Pemilahan struktur tabel neraca: Jati Jawa, Rimba Jawa, Rimba Luar Jawa, dan sheet agregasi Rekapitulasi Nasional (Indonesia).</a:t>
            </a:r>
          </a:p>
        </p:txBody>
      </p:sp>
      <p:sp>
        <p:nvSpPr>
          <p:cNvPr id="11" name="Rounded Rectangle 10"/>
          <p:cNvSpPr/>
          <p:nvPr/>
        </p:nvSpPr>
        <p:spPr>
          <a:xfrm>
            <a:off x="8823960" y="1645920"/>
            <a:ext cx="25146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06840" y="1874520"/>
            <a:ext cx="2148840" cy="3931920"/>
          </a:xfrm>
          <a:prstGeom prst="rect">
            <a:avLst/>
          </a:prstGeom>
          <a:noFill/>
        </p:spPr>
        <p:txBody>
          <a:bodyPr wrap="square">
            <a:spAutoFit/>
          </a:bodyPr>
          <a:lstStyle/>
          <a:p>
            <a:pPr>
              <a:spcAft>
                <a:spcPts val="1000"/>
              </a:spcAft>
              <a:defRPr sz="1500" b="1">
                <a:solidFill>
                  <a:srgbClr val="F59E0B"/>
                </a:solidFill>
              </a:defRPr>
            </a:pPr>
            <a:r>
              <a:t>Standardisasi ~1.992 Variabel</a:t>
            </a:r>
          </a:p>
          <a:p>
            <a:pPr>
              <a:defRPr sz="1200">
                <a:solidFill>
                  <a:srgbClr val="E2E8F0"/>
                </a:solidFill>
              </a:defRPr>
            </a:pPr>
            <a:r>
              <a:t>Klasifikasi terstruktur: ~48% variabel input manual, ~51% kalkulasi otomatis dinamis, dan ~1% parameter acuan eksternal (KLHK/Perhutani/Harga Pasar).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Nilai Manfaat &amp; Dampak Strategis bagi BPS</a:t>
            </a:r>
          </a:p>
        </p:txBody>
      </p:sp>
      <p:sp>
        <p:nvSpPr>
          <p:cNvPr id="5" name="Rounded Rectangle 4"/>
          <p:cNvSpPr/>
          <p:nvPr/>
        </p:nvSpPr>
        <p:spPr>
          <a:xfrm>
            <a:off x="731520" y="1645920"/>
            <a:ext cx="5120640" cy="20574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4663440" cy="1691640"/>
          </a:xfrm>
          <a:prstGeom prst="rect">
            <a:avLst/>
          </a:prstGeom>
          <a:noFill/>
        </p:spPr>
        <p:txBody>
          <a:bodyPr wrap="square">
            <a:spAutoFit/>
          </a:bodyPr>
          <a:lstStyle/>
          <a:p>
            <a:pPr>
              <a:spcAft>
                <a:spcPts val="800"/>
              </a:spcAft>
              <a:defRPr sz="1700" b="1">
                <a:solidFill>
                  <a:srgbClr val="FFFFFF"/>
                </a:solidFill>
              </a:defRPr>
            </a:pPr>
            <a:r>
              <a:t>★  Akurasi Data Terstandar SEEA</a:t>
            </a:r>
          </a:p>
          <a:p>
            <a:pPr>
              <a:defRPr sz="1300">
                <a:solidFill>
                  <a:srgbClr val="E2E8F0"/>
                </a:solidFill>
              </a:defRPr>
            </a:pPr>
            <a:r>
              <a:t>Meniadakan risiko human error dan kesalahan rumus Excel lokal; seluruh kalkulasi mengacu pada standar baku akuntansi lingkungan internasional.</a:t>
            </a:r>
          </a:p>
        </p:txBody>
      </p:sp>
      <p:sp>
        <p:nvSpPr>
          <p:cNvPr id="7" name="Rounded Rectangle 6"/>
          <p:cNvSpPr/>
          <p:nvPr/>
        </p:nvSpPr>
        <p:spPr>
          <a:xfrm>
            <a:off x="6126480" y="1645920"/>
            <a:ext cx="5120640" cy="20574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828800"/>
            <a:ext cx="4663440" cy="1691640"/>
          </a:xfrm>
          <a:prstGeom prst="rect">
            <a:avLst/>
          </a:prstGeom>
          <a:noFill/>
        </p:spPr>
        <p:txBody>
          <a:bodyPr wrap="square">
            <a:spAutoFit/>
          </a:bodyPr>
          <a:lstStyle/>
          <a:p>
            <a:pPr>
              <a:spcAft>
                <a:spcPts val="800"/>
              </a:spcAft>
              <a:defRPr sz="1700" b="1">
                <a:solidFill>
                  <a:srgbClr val="FFFFFF"/>
                </a:solidFill>
              </a:defRPr>
            </a:pPr>
            <a:r>
              <a:t>★  Efisiensi Waktu Pengolahan 85%+</a:t>
            </a:r>
          </a:p>
          <a:p>
            <a:pPr>
              <a:defRPr sz="1300">
                <a:solidFill>
                  <a:srgbClr val="E2E8F0"/>
                </a:solidFill>
              </a:defRPr>
            </a:pPr>
            <a:r>
              <a:t>Memangkas waktu siklus konsolidasi dan rekapitulasi data dari hitungan minggu menjadi instan dalam hitungan detik setelah data dasar tervalidasi.</a:t>
            </a:r>
          </a:p>
        </p:txBody>
      </p:sp>
      <p:sp>
        <p:nvSpPr>
          <p:cNvPr id="9" name="Rounded Rectangle 8"/>
          <p:cNvSpPr/>
          <p:nvPr/>
        </p:nvSpPr>
        <p:spPr>
          <a:xfrm>
            <a:off x="731520" y="3931920"/>
            <a:ext cx="5120640" cy="20574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114800"/>
            <a:ext cx="4663440" cy="1691640"/>
          </a:xfrm>
          <a:prstGeom prst="rect">
            <a:avLst/>
          </a:prstGeom>
          <a:noFill/>
        </p:spPr>
        <p:txBody>
          <a:bodyPr wrap="square">
            <a:spAutoFit/>
          </a:bodyPr>
          <a:lstStyle/>
          <a:p>
            <a:pPr>
              <a:spcAft>
                <a:spcPts val="800"/>
              </a:spcAft>
              <a:defRPr sz="1700" b="1">
                <a:solidFill>
                  <a:srgbClr val="FFFFFF"/>
                </a:solidFill>
              </a:defRPr>
            </a:pPr>
            <a:r>
              <a:t>★  Tata Kelola &amp; Audit Trail Andal</a:t>
            </a:r>
          </a:p>
          <a:p>
            <a:pPr>
              <a:defRPr sz="1300">
                <a:solidFill>
                  <a:srgbClr val="E2E8F0"/>
                </a:solidFill>
              </a:defRPr>
            </a:pPr>
            <a:r>
              <a:t>Setiap entri dan modifikasi angka statistik terekam dalam log audit transparan (siapa, kapan, dan nilai sebelum-sesudah) untuk keandalan data statistik.</a:t>
            </a:r>
          </a:p>
        </p:txBody>
      </p:sp>
      <p:sp>
        <p:nvSpPr>
          <p:cNvPr id="11" name="Rounded Rectangle 10"/>
          <p:cNvSpPr/>
          <p:nvPr/>
        </p:nvSpPr>
        <p:spPr>
          <a:xfrm>
            <a:off x="6126480" y="3931920"/>
            <a:ext cx="5120640" cy="20574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4114800"/>
            <a:ext cx="4663440" cy="1691640"/>
          </a:xfrm>
          <a:prstGeom prst="rect">
            <a:avLst/>
          </a:prstGeom>
          <a:noFill/>
        </p:spPr>
        <p:txBody>
          <a:bodyPr wrap="square">
            <a:spAutoFit/>
          </a:bodyPr>
          <a:lstStyle/>
          <a:p>
            <a:pPr>
              <a:spcAft>
                <a:spcPts val="800"/>
              </a:spcAft>
              <a:defRPr sz="1700" b="1">
                <a:solidFill>
                  <a:srgbClr val="FFFFFF"/>
                </a:solidFill>
              </a:defRPr>
            </a:pPr>
            <a:r>
              <a:t>★  Single Source of Truth Nasional</a:t>
            </a:r>
          </a:p>
          <a:p>
            <a:pPr>
              <a:defRPr sz="1300">
                <a:solidFill>
                  <a:srgbClr val="E2E8F0"/>
                </a:solidFill>
              </a:defRPr>
            </a:pPr>
            <a:r>
              <a:t>Menyediakan satu-satunya basis data neraca lingkungan terpusat untuk kebutuhan BPS yang siap diintegrasikan untuk kebutuhan publikasi dan kebijakan lintas kementerian.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9601200" cy="320040"/>
          </a:xfrm>
          <a:prstGeom prst="rect">
            <a:avLst/>
          </a:prstGeom>
          <a:noFill/>
        </p:spPr>
        <p:txBody>
          <a:bodyPr wrap="square">
            <a:spAutoFit/>
          </a:bodyPr>
          <a:lstStyle/>
          <a:p>
            <a:pPr>
              <a:defRPr sz="1100" b="1">
                <a:solidFill>
                  <a:srgbClr val="10B981"/>
                </a:solidFill>
              </a:defRPr>
            </a:pPr>
            <a:r>
              <a:t>BADAN PUSAT STATISTIK — SISTEM INFORMASI NERACA LINGKUNGAN</a:t>
            </a:r>
          </a:p>
        </p:txBody>
      </p:sp>
      <p:sp>
        <p:nvSpPr>
          <p:cNvPr id="4" name="TextBox 3"/>
          <p:cNvSpPr txBox="1"/>
          <p:nvPr/>
        </p:nvSpPr>
        <p:spPr>
          <a:xfrm>
            <a:off x="731520" y="685800"/>
            <a:ext cx="10789920" cy="731520"/>
          </a:xfrm>
          <a:prstGeom prst="rect">
            <a:avLst/>
          </a:prstGeom>
          <a:noFill/>
        </p:spPr>
        <p:txBody>
          <a:bodyPr wrap="square">
            <a:spAutoFit/>
          </a:bodyPr>
          <a:lstStyle/>
          <a:p>
            <a:pPr>
              <a:defRPr sz="2400" b="1">
                <a:solidFill>
                  <a:srgbClr val="FFFFFF"/>
                </a:solidFill>
              </a:defRPr>
            </a:pPr>
            <a:r>
              <a:t>Kesimpulan &amp; Rencana Pengembangan Masa Depan (Roadmap)</a:t>
            </a:r>
          </a:p>
        </p:txBody>
      </p:sp>
      <p:sp>
        <p:nvSpPr>
          <p:cNvPr id="5" name="Rounded Rectangle 4"/>
          <p:cNvSpPr/>
          <p:nvPr/>
        </p:nvSpPr>
        <p:spPr>
          <a:xfrm>
            <a:off x="7315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4572000" cy="3840480"/>
          </a:xfrm>
          <a:prstGeom prst="rect">
            <a:avLst/>
          </a:prstGeom>
          <a:noFill/>
        </p:spPr>
        <p:txBody>
          <a:bodyPr wrap="square">
            <a:spAutoFit/>
          </a:bodyPr>
          <a:lstStyle/>
          <a:p>
            <a:pPr>
              <a:spcAft>
                <a:spcPts val="1200"/>
              </a:spcAft>
              <a:defRPr sz="1900" b="1">
                <a:solidFill>
                  <a:srgbClr val="10B981"/>
                </a:solidFill>
              </a:defRPr>
            </a:pPr>
            <a:r>
              <a:t>Kesimpulan Rancang Bangun</a:t>
            </a:r>
          </a:p>
          <a:p>
            <a:pPr>
              <a:spcAft>
                <a:spcPts val="1000"/>
              </a:spcAft>
              <a:defRPr sz="1250">
                <a:solidFill>
                  <a:srgbClr val="E2E8F0"/>
                </a:solidFill>
              </a:defRPr>
            </a:pPr>
            <a:r>
              <a:t>✔  SISNERLING berhasil mentransformasikan penyusunan neraca lingkungan di BPS menjadi sistem berbasis web yang modern, cepat, dan akuntabel.</a:t>
            </a:r>
          </a:p>
          <a:p>
            <a:pPr>
              <a:spcAft>
                <a:spcPts val="1000"/>
              </a:spcAft>
              <a:defRPr sz="1250">
                <a:solidFill>
                  <a:srgbClr val="E2E8F0"/>
                </a:solidFill>
              </a:defRPr>
            </a:pPr>
            <a:r>
              <a:t>✔  Mesin kalkulasi dinamis dan validasi berjenjang mampu menggantikan proses manual yang rentan kendala teknis.</a:t>
            </a:r>
          </a:p>
          <a:p>
            <a:pPr>
              <a:spcAft>
                <a:spcPts val="1000"/>
              </a:spcAft>
              <a:defRPr sz="1250">
                <a:solidFill>
                  <a:srgbClr val="E2E8F0"/>
                </a:solidFill>
              </a:defRPr>
            </a:pPr>
            <a:r>
              <a:t>✔  Sistem telah teruji handal dalam mengolah ribuan variabel pada modul Neraca Hutan dan Neraca Kayu (Timber).</a:t>
            </a:r>
          </a:p>
        </p:txBody>
      </p:sp>
      <p:sp>
        <p:nvSpPr>
          <p:cNvPr id="7" name="Rounded Rectangle 6"/>
          <p:cNvSpPr/>
          <p:nvPr/>
        </p:nvSpPr>
        <p:spPr>
          <a:xfrm>
            <a:off x="6309360" y="1645920"/>
            <a:ext cx="51206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920240"/>
            <a:ext cx="4572000" cy="3840480"/>
          </a:xfrm>
          <a:prstGeom prst="rect">
            <a:avLst/>
          </a:prstGeom>
          <a:noFill/>
        </p:spPr>
        <p:txBody>
          <a:bodyPr wrap="square">
            <a:spAutoFit/>
          </a:bodyPr>
          <a:lstStyle/>
          <a:p>
            <a:pPr>
              <a:spcAft>
                <a:spcPts val="1200"/>
              </a:spcAft>
              <a:defRPr sz="1900" b="1">
                <a:solidFill>
                  <a:srgbClr val="F59E0B"/>
                </a:solidFill>
              </a:defRPr>
            </a:pPr>
            <a:r>
              <a:t>Roadmap Pengembangan BPS</a:t>
            </a:r>
          </a:p>
          <a:p>
            <a:pPr>
              <a:spcAft>
                <a:spcPts val="800"/>
              </a:spcAft>
              <a:defRPr sz="1250">
                <a:solidFill>
                  <a:srgbClr val="E2E8F0"/>
                </a:solidFill>
              </a:defRPr>
            </a:pPr>
            <a:r>
              <a:t>🚀  Interoperabilitas API BPS &amp; K/L: Integrasi data langsung dengan Kementerian Lingkungan Hidup dan Kehutanan (KLHK) dan Kementerian ESDM.</a:t>
            </a:r>
          </a:p>
          <a:p>
            <a:pPr>
              <a:spcAft>
                <a:spcPts val="800"/>
              </a:spcAft>
              <a:defRPr sz="1250">
                <a:solidFill>
                  <a:srgbClr val="E2E8F0"/>
                </a:solidFill>
              </a:defRPr>
            </a:pPr>
            <a:r>
              <a:t>🚀  Perluasan Domain Neraca: Pengembangan modul Neraca Mineral, Neraca Energi, Neraca Air, serta Neraca Emisi Gas Rumah Kaca (GRK).</a:t>
            </a:r>
          </a:p>
          <a:p>
            <a:pPr>
              <a:spcAft>
                <a:spcPts val="800"/>
              </a:spcAft>
              <a:defRPr sz="1250">
                <a:solidFill>
                  <a:srgbClr val="E2E8F0"/>
                </a:solidFill>
              </a:defRPr>
            </a:pPr>
            <a:r>
              <a:t>🚀  Deteksi Anomali Statistik Cerdas: Notifikasi dini terhadap lonjakan deplesi sumber daya alam atau ketidakwajaran angka input.</a:t>
            </a:r>
          </a:p>
          <a:p>
            <a:pPr>
              <a:spcAft>
                <a:spcPts val="800"/>
              </a:spcAft>
              <a:defRPr sz="1250">
                <a:solidFill>
                  <a:srgbClr val="E2E8F0"/>
                </a:solidFill>
              </a:defRPr>
            </a:pPr>
            <a:r>
              <a:t>🚀  Dashboard Publik Eksekutif: Portal diseminasi ringkas berbasis web dan mobile untuk pimpinan lembaga dan publik.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2017</Words>
  <Application>Microsoft Office PowerPoint</Application>
  <PresentationFormat>Widescreen</PresentationFormat>
  <Paragraphs>152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putra pratama</cp:lastModifiedBy>
  <cp:revision>3</cp:revision>
  <dcterms:created xsi:type="dcterms:W3CDTF">2013-01-27T09:14:16Z</dcterms:created>
  <dcterms:modified xsi:type="dcterms:W3CDTF">2026-10-20T03:07:51Z</dcterms:modified>
  <cp:category/>
</cp:coreProperties>
</file>